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Segundo bloco. Mesma dinâmica do EIGRP: cada problema vira um ticket. Lembrar de desligar os labs EIGRP e ligar os labs OSPF (limite de 20 nós no CML2).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mesmo roteiro do EIGRP: sintoma, isolar, causa, correção, verificação. No OSPF, o estado da adjacência já diz em qual família de problemas estamos.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Ordem de demo no Lab A: A1, A3, A2, A4. O A3 isola a área 1 do backbone, então os tickets da área 1 são verificados no ABR1.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Licença do CML2: 20 nós. Neste bloco, só os dois labs OSPF ligados.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Todas as adjacências OSPFv3 sobem. Quatro adjacências OSPFv2 estão quebradas. Ordem: A1, A3, A2, A4.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debug aparece "Mismatched hello parameters". Lembrar de undebug all depois.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Log real do lab: "Nbr 1.1.1.1 on Ethernet0/0 from EXSTART to DOWN, Neighbor Down: Too many retransmissions". O OSPFv3 não é afetado porque usa o MTU IPv6.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Verificar no ABR1: 12.12.12.12 em FULL e rota O 10.1.2.0/24.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Sem debug não há log nenhum: o ABR1 simplesmente descarta o hello. Com debug aparece "mismatched Stub/Transit area option bit". Saída real da BR1 com o defeito: "1 normal 0 stub 0 nssa".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Todos os vizinhos ficam FULL neste lab. Ordem: B1, B2, B3, B4, porque o B1 esconde o B2.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é o ticket mais traiçoeiro. Mostrar o show ip ospf database router 11.11.11.11 para ver a LSA descrevendo um link point-to-point enquanto o ABR1 descreve um link de trânsito.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Enquanto o B1 não for corrigido, o ABR1 nem tem as rotas da BR1, então o B2 fica escondido. Depois da correção, o EDGE mostra O IA 10.1.4.0/22. O comando no é uma linha só; no slide foi quebrado para caber.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Depois da correção: O*E2 0.0.0.0/0 nos roteadores, e o DC1 pinga 8.8.8.8. Comparar com o OSPFv3, que já anuncia ::/0 neste lab.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Saída real depois da correção: Et0/0 cost 10, Et0/1 cost 100, e um único caminho via 10.2.21.1. O IOS avisa "Please ensure reference bandwidth is consistent across all routers".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Atenção: o bônus A5 não foi testado no lab. Se for usar, teste antes. O B5 é simples e seguro. Comandos nos arquivos Lab_OSPF-A.md e Lab_OSPF-B.md.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Fechamento da aula. Sempre terminar o debug com undebug all.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6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1254720"/>
            <a:ext cx="10566400" cy="391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28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28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1950641"/>
            <a:ext cx="10566400" cy="40945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1254720"/>
            <a:ext cx="10566400" cy="391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28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28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1950641"/>
            <a:ext cx="10566400" cy="40945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2166640"/>
            <a:ext cx="10883392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spc="150" kern="0" dirty="0">
                <a:solidFill>
                  <a:srgbClr val="9CC3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CCNP ENARSI V9 · MÓDULO 6</a:t>
            </a:r>
            <a:endParaRPr lang="en-US" sz="14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2669480"/>
            <a:ext cx="10883392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300"/>
              </a:lnSpc>
              <a:buNone/>
            </a:pPr>
            <a:r>
              <a:rPr lang="en-US" sz="6000" b="1" i="0" dirty="0">
                <a:solidFill>
                  <a:srgbClr val="F6F7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Troubleshooting OSPF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812800" y="3723580"/>
            <a:ext cx="10883392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00" dirty="0">
                <a:solidFill>
                  <a:srgbClr val="BFC9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Oito tickets reais, dois labs no CML2, uma demo ao vivo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12800" y="4307780"/>
            <a:ext cx="1227435" cy="383480"/>
          </a:xfrm>
          <a:prstGeom prst="roundRect">
            <a:avLst>
              <a:gd name="adj" fmla="val 50000"/>
            </a:avLst>
          </a:prstGeom>
          <a:solidFill>
            <a:srgbClr val="9CC3E8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Adjacência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192635" y="4307780"/>
            <a:ext cx="1676797" cy="383480"/>
          </a:xfrm>
          <a:prstGeom prst="roundRect">
            <a:avLst>
              <a:gd name="adj" fmla="val 50000"/>
            </a:avLst>
          </a:prstGeom>
          <a:solidFill>
            <a:srgbClr val="F2A65A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Rotas e caminho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021832" y="4307780"/>
            <a:ext cx="2069902" cy="383480"/>
          </a:xfrm>
          <a:prstGeom prst="roundRect">
            <a:avLst>
              <a:gd name="adj" fmla="val 50000"/>
            </a:avLst>
          </a:prstGeom>
          <a:solidFill>
            <a:srgbClr val="D9DEE7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OSPFv2 + OSPFv3 AF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12800" y="6238280"/>
            <a:ext cx="65405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E9A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Prof. Moises · Demo em OSPF multiárea, pilha dupla</a:t>
            </a:r>
            <a:endParaRPr lang="en-US" sz="1200" dirty="0"/>
          </a:p>
        </p:txBody>
      </p:sp>
      <p:pic>
        <p:nvPicPr>
          <p:cNvPr id="9" name="Image 0" descr="ABRedes — Feras formando Feras">    </p:cNvPr>
          <p:cNvPicPr>
            <a:picLocks noChangeAspect="1"/>
          </p:cNvPicPr>
          <p:nvPr/>
        </p:nvPicPr>
        <p:blipFill>
          <a:blip r:embed="rId1"/>
          <a:srcRect l="0" r="0" t="-178" b="-178"/>
          <a:stretch/>
        </p:blipFill>
        <p:spPr>
          <a:xfrm>
            <a:off x="9093200" y="609600"/>
            <a:ext cx="2286000" cy="7556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C256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MÉTODO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38172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Siga o estado da adjacência, depois o LSDB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9150" y="2190651"/>
            <a:ext cx="2514600" cy="1719362"/>
          </a:xfrm>
          <a:prstGeom prst="roundRect">
            <a:avLst>
              <a:gd name="adj" fmla="val 5540"/>
            </a:avLst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28700" y="2400201"/>
            <a:ext cx="2158365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C256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28700" y="2892921"/>
            <a:ext cx="2158365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 vizinho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28700" y="3238302"/>
            <a:ext cx="2158365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3A4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Hellos não batem: área, timers, stub, autenticação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498850" y="2190651"/>
            <a:ext cx="2514600" cy="1719362"/>
          </a:xfrm>
          <a:prstGeom prst="roundRect">
            <a:avLst>
              <a:gd name="adj" fmla="val 5540"/>
            </a:avLst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708400" y="2400201"/>
            <a:ext cx="2158365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C256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708400" y="2892921"/>
            <a:ext cx="2158365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Preso no meio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708400" y="3238302"/>
            <a:ext cx="2158365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3A4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EXSTART ou EXCHANGE: quase sempre MTU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178550" y="2190651"/>
            <a:ext cx="2514600" cy="1719362"/>
          </a:xfrm>
          <a:prstGeom prst="roundRect">
            <a:avLst>
              <a:gd name="adj" fmla="val 5540"/>
            </a:avLst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88100" y="2400201"/>
            <a:ext cx="2158365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C256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388100" y="2892921"/>
            <a:ext cx="2158365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sem rotas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388100" y="3238302"/>
            <a:ext cx="2158365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3A4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LSAs inconsistentes, filtros, sumarização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858250" y="2190651"/>
            <a:ext cx="2514600" cy="1719362"/>
          </a:xfrm>
          <a:prstGeom prst="roundRect">
            <a:avLst>
              <a:gd name="adj" fmla="val 5540"/>
            </a:avLst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067800" y="2400201"/>
            <a:ext cx="2158365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C256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9067800" y="2892921"/>
            <a:ext cx="2158365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Rota errada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067800" y="3238302"/>
            <a:ext cx="2158365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3A4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Custo, reference-bandwidth, tipo de rota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12800" y="4271963"/>
            <a:ext cx="10566400" cy="889000"/>
          </a:xfrm>
          <a:prstGeom prst="roundRect">
            <a:avLst>
              <a:gd name="adj" fmla="val 11429"/>
            </a:avLst>
          </a:prstGeom>
          <a:solidFill>
            <a:srgbClr val="E4EDF7"/>
          </a:solidFill>
          <a:ln/>
        </p:spPr>
        <p:txBody>
          <a:bodyPr wrap="square" lIns="198842" tIns="148042" rIns="0" bIns="122642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Dica da pilha dupla:</a:t>
            </a:r>
            <a:r>
              <a:rPr lang="en-US" sz="15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 OSPFv3 dos labs está correto. Se a adjacência OSPFv3 está FULL e a OSPFv2 não, o enlace está bom e o defeito é do OSPFv2.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A75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Troubleshooting OSPF · ENARSI v9</a:t>
            </a:r>
            <a:endParaRPr lang="en-US" sz="1200" dirty="0"/>
          </a:p>
        </p:txBody>
      </p:sp>
      <p:pic>
        <p:nvPicPr>
          <p:cNvPr id="22" name="Image 0" descr="ABRedes">    </p:cNvPr>
          <p:cNvPicPr>
            <a:picLocks noChangeAspect="1"/>
          </p:cNvPicPr>
          <p:nvPr/>
        </p:nvPicPr>
        <p:blipFill>
          <a:blip r:embed="rId1"/>
          <a:srcRect l="-283" r="-283" t="0" b="0"/>
          <a:stretch/>
        </p:blipFill>
        <p:spPr>
          <a:xfrm>
            <a:off x="10236200" y="6172200"/>
            <a:ext cx="1143000" cy="381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C256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PANORAMA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8012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tipos de problema do OSPF</a:t>
            </a:r>
            <a:endParaRPr lang="en-US" sz="3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1993801"/>
          <a:ext cx="10553700" cy="3592711"/>
        </p:xfrm>
        <a:graphic>
          <a:graphicData uri="http://schemas.openxmlformats.org/drawingml/2006/table">
            <a:tbl>
              <a:tblPr/>
              <a:tblGrid>
                <a:gridCol w="2743962"/>
                <a:gridCol w="4854702"/>
                <a:gridCol w="1266444"/>
                <a:gridCol w="1688592"/>
              </a:tblGrid>
              <a:tr h="35927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6F7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Categoria ENARSI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6F7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Problema na demo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6F7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Ticket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6F7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Onde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35927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6.4 Adjacência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Hello e dead diferentes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A1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DC1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927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6.4 Adjacência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MTU diferente: preso em EXSTART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A3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ABR1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3"/>
                    </a:solidFill>
                  </a:tcPr>
                </a:tc>
              </a:tr>
              <a:tr h="35927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6.4 Adjacência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Área diferente no enlace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A2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BR2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927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6.7 Áreas especiais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Flag stub divergente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A4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BR1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3"/>
                    </a:solidFill>
                  </a:tcPr>
                </a:tc>
              </a:tr>
              <a:tr h="35927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6.5 Roteamento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Network type diferente: FULL sem rotas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B1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BR1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927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6.8 Sumarização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 range com not-advertise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B2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ABR1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3"/>
                    </a:solidFill>
                  </a:tcPr>
                </a:tc>
              </a:tr>
              <a:tr h="35927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6.5 Roteamento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ASBR sem default-information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B3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EDGE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927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6.6 Seleção de caminho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Reference-bandwidth padrão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B4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todos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3"/>
                    </a:solidFill>
                  </a:tcPr>
                </a:tc>
              </a:tr>
              <a:tr h="35927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OSPFv3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Bônus: falha só no IPv6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A5 · B5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DC1 · EDGE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A75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 A = adjacência · Lab B = rotas e caminho</a:t>
            </a:r>
            <a:endParaRPr lang="en-US" sz="1200" dirty="0"/>
          </a:p>
        </p:txBody>
      </p:sp>
      <p:pic>
        <p:nvPicPr>
          <p:cNvPr id="6" name="Image 0" descr="ABRedes">    </p:cNvPr>
          <p:cNvPicPr>
            <a:picLocks noChangeAspect="1"/>
          </p:cNvPicPr>
          <p:nvPr/>
        </p:nvPicPr>
        <p:blipFill>
          <a:blip r:embed="rId1"/>
          <a:srcRect l="-283" r="-283" t="0" b="0"/>
          <a:stretch/>
        </p:blipFill>
        <p:spPr>
          <a:xfrm>
            <a:off x="10236200" y="6172200"/>
            <a:ext cx="1143000" cy="381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C256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LABS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33092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Uma empresa multiárea, dois cenários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9150" y="2089051"/>
            <a:ext cx="5143500" cy="2432943"/>
          </a:xfrm>
          <a:prstGeom prst="roundRect">
            <a:avLst>
              <a:gd name="adj" fmla="val 3915"/>
            </a:avLst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9500" y="2349401"/>
            <a:ext cx="4761484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 OSPF-A · Adjacência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79500" y="2781201"/>
            <a:ext cx="4761484" cy="523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A4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Backbone com CORE, ABR1 e ABR2; filiais BR1 e BR2 na área 1 stub; DC1 na área 2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79500" y="3405882"/>
            <a:ext cx="4761484" cy="523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A4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Quatro adjacências OSPFv2 quebradas; as OSPFv3 sobem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79500" y="4030563"/>
            <a:ext cx="4761484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4213D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6 nós IOL-XE · tickets A1 a A4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29350" y="2089051"/>
            <a:ext cx="5143500" cy="2432943"/>
          </a:xfrm>
          <a:prstGeom prst="roundRect">
            <a:avLst>
              <a:gd name="adj" fmla="val 3915"/>
            </a:avLst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89700" y="2349401"/>
            <a:ext cx="4761484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 OSPF-B · Rotas e caminho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489700" y="2781201"/>
            <a:ext cx="4761484" cy="523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A4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ASBR com internet, dois ABRs, filial com 4 LANs e DC1 com link de 1G e backup de 100M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89700" y="3405882"/>
            <a:ext cx="4761484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A4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Todos os vizinhos FULL, mas as rotas estão erradas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89700" y="3781723"/>
            <a:ext cx="4761484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4213D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6 nós IOL-XE · tickets B1 a B4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12800" y="4833144"/>
            <a:ext cx="10883392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A4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OSPFv2 para IPv4 e OSPFv3 AF para IPv6. As topologias abrem cada bloco de tickets.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A75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Troubleshooting OSPF · ENARSI v9</a:t>
            </a:r>
            <a:endParaRPr lang="en-US" sz="1200" dirty="0"/>
          </a:p>
        </p:txBody>
      </p:sp>
      <p:pic>
        <p:nvPicPr>
          <p:cNvPr id="16" name="Image 0" descr="ABRedes">    </p:cNvPr>
          <p:cNvPicPr>
            <a:picLocks noChangeAspect="1"/>
          </p:cNvPicPr>
          <p:nvPr/>
        </p:nvPicPr>
        <p:blipFill>
          <a:blip r:embed="rId1"/>
          <a:srcRect l="-283" r="-283" t="0" b="0"/>
          <a:stretch/>
        </p:blipFill>
        <p:spPr>
          <a:xfrm>
            <a:off x="10236200" y="6172200"/>
            <a:ext cx="1143000" cy="381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7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75"/>
              </a:lnSpc>
              <a:buNone/>
            </a:pPr>
            <a:r>
              <a:rPr lang="en-US" sz="1196" b="1" spc="150" kern="0" dirty="0">
                <a:solidFill>
                  <a:srgbClr val="C256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 OSPF-A · TOPOLOGIA</a:t>
            </a:r>
            <a:endParaRPr lang="en-US" sz="1196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28328"/>
            <a:ext cx="10883392" cy="4148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70"/>
              </a:lnSpc>
              <a:buNone/>
            </a:pPr>
            <a:r>
              <a:rPr lang="en-US" sz="2791" b="1" i="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Backbone, área stub das filiais e área do DC</a:t>
            </a:r>
            <a:endParaRPr lang="en-US" sz="2791" dirty="0"/>
          </a:p>
        </p:txBody>
      </p:sp>
      <p:sp>
        <p:nvSpPr>
          <p:cNvPr id="4" name="Shape 2"/>
          <p:cNvSpPr/>
          <p:nvPr/>
        </p:nvSpPr>
        <p:spPr>
          <a:xfrm>
            <a:off x="812800" y="1820962"/>
            <a:ext cx="5080000" cy="4038600"/>
          </a:xfrm>
          <a:prstGeom prst="roundRect">
            <a:avLst>
              <a:gd name="adj" fmla="val 2516"/>
            </a:avLst>
          </a:prstGeom>
          <a:solidFill>
            <a:srgbClr val="FFFFFF"/>
          </a:solidFill>
          <a:ln/>
        </p:spPr>
      </p:sp>
      <p:pic>
        <p:nvPicPr>
          <p:cNvPr id="5" name="Image 0" descr="Topologia do Lab OSPF-A: CORE na área 0 ligado a ABR1 e ABR2; ABR1 ligado a BR1 e BR2 na área 1 stub; ABR2 ligado a DC1 na área 2">    </p:cNvPr>
          <p:cNvPicPr>
            <a:picLocks noChangeAspect="1"/>
          </p:cNvPicPr>
          <p:nvPr/>
        </p:nvPicPr>
        <p:blipFill>
          <a:blip r:embed="rId1"/>
          <a:srcRect l="-52" r="-52" t="0" b="0"/>
          <a:stretch/>
        </p:blipFill>
        <p:spPr>
          <a:xfrm>
            <a:off x="812800" y="1820962"/>
            <a:ext cx="5080000" cy="4038600"/>
          </a:xfrm>
          <a:prstGeom prst="roundRect">
            <a:avLst>
              <a:gd name="adj" fmla="val 2516"/>
            </a:avLst>
          </a:prstGeom>
        </p:spPr>
      </p:pic>
      <p:sp>
        <p:nvSpPr>
          <p:cNvPr id="6" name="Shape 3"/>
          <p:cNvSpPr/>
          <p:nvPr/>
        </p:nvSpPr>
        <p:spPr>
          <a:xfrm>
            <a:off x="6203950" y="1827312"/>
            <a:ext cx="5168900" cy="878780"/>
          </a:xfrm>
          <a:prstGeom prst="roundRect">
            <a:avLst>
              <a:gd name="adj" fmla="val 10839"/>
            </a:avLst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388100" y="2011462"/>
            <a:ext cx="4944618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Área 0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6388100" y="2290862"/>
            <a:ext cx="4944618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3A4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CORE, ABR1 e ABR2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203950" y="2871192"/>
            <a:ext cx="5168900" cy="878780"/>
          </a:xfrm>
          <a:prstGeom prst="roundRect">
            <a:avLst>
              <a:gd name="adj" fmla="val 10839"/>
            </a:avLst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388100" y="3055342"/>
            <a:ext cx="4944618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Área 1 stub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6388100" y="3334742"/>
            <a:ext cx="4944618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3A4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Filiais BR1 e BR2, atrás do ABR1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6203950" y="3915073"/>
            <a:ext cx="5168900" cy="878780"/>
          </a:xfrm>
          <a:prstGeom prst="roundRect">
            <a:avLst>
              <a:gd name="adj" fmla="val 10839"/>
            </a:avLst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388100" y="4099223"/>
            <a:ext cx="4944618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Área 2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6388100" y="4378623"/>
            <a:ext cx="4944618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3A4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Datacenter DC1, atrás do ABR2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A75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OSPFv2 para IPv4 · OSPFv3 AF para IPv6</a:t>
            </a:r>
            <a:endParaRPr lang="en-US" sz="1200" dirty="0"/>
          </a:p>
        </p:txBody>
      </p:sp>
      <p:pic>
        <p:nvPicPr>
          <p:cNvPr id="16" name="Image 1" descr="ABRedes">    </p:cNvPr>
          <p:cNvPicPr>
            <a:picLocks noChangeAspect="1"/>
          </p:cNvPicPr>
          <p:nvPr/>
        </p:nvPicPr>
        <p:blipFill>
          <a:blip r:embed="rId2"/>
          <a:srcRect l="-283" r="-283" t="0" b="0"/>
          <a:stretch/>
        </p:blipFill>
        <p:spPr>
          <a:xfrm>
            <a:off x="10236200" y="6172200"/>
            <a:ext cx="1143000" cy="381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C256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 A · TICKET A1 · ADJACÊNCIA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54720"/>
            <a:ext cx="10883392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b="1" i="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Hello e dead diferentes isolam o datacenter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12800" y="1874441"/>
            <a:ext cx="5729478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2F6F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Sintoma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12800" y="2169021"/>
            <a:ext cx="5729478" cy="523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A4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DC1 sumiu depois que alguém “acelerou a convergência”. O IPv6 continua funcionando.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12800" y="2844502"/>
            <a:ext cx="5729478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2F6F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Causa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12800" y="3139083"/>
            <a:ext cx="5729478" cy="523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A4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DC1 usa hello 5 e dead 20. O ABR2 usa o padrão: hello 10 e dead 40.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12800" y="3814564"/>
            <a:ext cx="5562600" cy="802481"/>
          </a:xfrm>
          <a:prstGeom prst="roundRect">
            <a:avLst>
              <a:gd name="adj" fmla="val 9496"/>
            </a:avLst>
          </a:prstGeom>
          <a:solidFill>
            <a:srgbClr val="FBE7D3"/>
          </a:solidFill>
          <a:ln/>
        </p:spPr>
        <p:txBody>
          <a:bodyPr wrap="square" lIns="155482" tIns="130082" rIns="0" bIns="104682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Lição:</a:t>
            </a:r>
            <a:r>
              <a:rPr lang="en-US" sz="14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mudar só o hello muda o dead junto (4 vezes o hello). Os dois lados precisam bater.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680200" y="1874441"/>
            <a:ext cx="4699000" cy="3139083"/>
          </a:xfrm>
          <a:prstGeom prst="roundRect">
            <a:avLst>
              <a:gd name="adj" fmla="val 3237"/>
            </a:avLst>
          </a:prstGeom>
          <a:solidFill>
            <a:srgbClr val="14213D"/>
          </a:solidFill>
          <a:ln/>
        </p:spPr>
      </p:sp>
      <p:sp>
        <p:nvSpPr>
          <p:cNvPr id="10" name="Text 8"/>
          <p:cNvSpPr/>
          <p:nvPr/>
        </p:nvSpPr>
        <p:spPr>
          <a:xfrm>
            <a:off x="6934200" y="2128441"/>
            <a:ext cx="431673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F2A65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Investigar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934200" y="2430661"/>
            <a:ext cx="431673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8ECF2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ABR2# show ip ospf neighbor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934200" y="2732881"/>
            <a:ext cx="431673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8ECF2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ABR2# show ospfv3 neighbor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934200" y="3035102"/>
            <a:ext cx="431673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8ECF2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DC1# show ip ospf interface e0/0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934200" y="3337322"/>
            <a:ext cx="431673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8ECF2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Hello 5, Dead 20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934200" y="3639542"/>
            <a:ext cx="431673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8ECF2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ABR2# debug ip ospf hello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934200" y="3941763"/>
            <a:ext cx="431673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9CC3E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Corrigir no DC1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934200" y="4243983"/>
            <a:ext cx="431673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8ECF2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interface Ethernet0/0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934200" y="4546203"/>
            <a:ext cx="431673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8ECF2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no ip ospf hello-interval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A75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Troubleshooting OSPF · Lab OSPF-A · ordem: A1, A3, A2, A4</a:t>
            </a:r>
            <a:endParaRPr lang="en-US" sz="1200" dirty="0"/>
          </a:p>
        </p:txBody>
      </p:sp>
      <p:pic>
        <p:nvPicPr>
          <p:cNvPr id="20" name="Image 0" descr="ABRedes">    </p:cNvPr>
          <p:cNvPicPr>
            <a:picLocks noChangeAspect="1"/>
          </p:cNvPicPr>
          <p:nvPr/>
        </p:nvPicPr>
        <p:blipFill>
          <a:blip r:embed="rId1"/>
          <a:srcRect l="-283" r="-283" t="0" b="0"/>
          <a:stretch/>
        </p:blipFill>
        <p:spPr>
          <a:xfrm>
            <a:off x="10236200" y="6172200"/>
            <a:ext cx="1143000" cy="381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C256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 A · TICKET A3 · ADJACÊNCIA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54720"/>
            <a:ext cx="10883392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b="1" i="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MTU diferente: vizinho preso em EXSTART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12800" y="1874441"/>
            <a:ext cx="5729478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2F6F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Sintoma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12800" y="2169021"/>
            <a:ext cx="5729478" cy="523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A4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filiais estão isoladas da matriz. O link CORE–ABR1 está UP e o ping no link funciona.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12800" y="2844502"/>
            <a:ext cx="5729478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2F6F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Causa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12800" y="3139083"/>
            <a:ext cx="5729478" cy="523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A4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ABR1 tem ip mtu 1400 e o CORE usa 1500. Os hellos passam, mas a troca de DBD falha.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12800" y="3814564"/>
            <a:ext cx="5562600" cy="802481"/>
          </a:xfrm>
          <a:prstGeom prst="roundRect">
            <a:avLst>
              <a:gd name="adj" fmla="val 9496"/>
            </a:avLst>
          </a:prstGeom>
          <a:solidFill>
            <a:srgbClr val="FBE7D3"/>
          </a:solidFill>
          <a:ln/>
        </p:spPr>
        <p:txBody>
          <a:bodyPr wrap="square" lIns="155482" tIns="130082" rIns="0" bIns="104682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Lição:</a:t>
            </a:r>
            <a:r>
              <a:rPr lang="en-US" sz="14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preso em EXSTART ou EXCHANGE é quase sempre MTU. O certo é igualar, não usar mtu-ignore.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680200" y="1874441"/>
            <a:ext cx="4699000" cy="3139083"/>
          </a:xfrm>
          <a:prstGeom prst="roundRect">
            <a:avLst>
              <a:gd name="adj" fmla="val 3237"/>
            </a:avLst>
          </a:prstGeom>
          <a:solidFill>
            <a:srgbClr val="14213D"/>
          </a:solidFill>
          <a:ln/>
        </p:spPr>
      </p:sp>
      <p:sp>
        <p:nvSpPr>
          <p:cNvPr id="10" name="Text 8"/>
          <p:cNvSpPr/>
          <p:nvPr/>
        </p:nvSpPr>
        <p:spPr>
          <a:xfrm>
            <a:off x="6934200" y="2128441"/>
            <a:ext cx="431673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F2A65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Investigar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934200" y="2430661"/>
            <a:ext cx="431673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8ECF2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CORE# show ip ospf neighbor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934200" y="2732881"/>
            <a:ext cx="431673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8ECF2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ABR1# show logging | i OSPF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934200" y="3035102"/>
            <a:ext cx="431673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8ECF2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from EXSTART to DOWN,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934200" y="3337322"/>
            <a:ext cx="431673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8ECF2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Too many retransmissions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934200" y="3639542"/>
            <a:ext cx="431673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8ECF2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ABR1# show ip interface e0/0 | i MTU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934200" y="3941763"/>
            <a:ext cx="431673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9CC3E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Corrigir no ABR1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934200" y="4243983"/>
            <a:ext cx="431673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8ECF2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interface Ethernet0/0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934200" y="4546203"/>
            <a:ext cx="431673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8ECF2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no ip mtu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A75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Troubleshooting OSPF · Lab OSPF-A</a:t>
            </a:r>
            <a:endParaRPr lang="en-US" sz="1200" dirty="0"/>
          </a:p>
        </p:txBody>
      </p:sp>
      <p:pic>
        <p:nvPicPr>
          <p:cNvPr id="20" name="Image 0" descr="ABRedes">    </p:cNvPr>
          <p:cNvPicPr>
            <a:picLocks noChangeAspect="1"/>
          </p:cNvPicPr>
          <p:nvPr/>
        </p:nvPicPr>
        <p:blipFill>
          <a:blip r:embed="rId1"/>
          <a:srcRect l="-283" r="-283" t="0" b="0"/>
          <a:stretch/>
        </p:blipFill>
        <p:spPr>
          <a:xfrm>
            <a:off x="10236200" y="6172200"/>
            <a:ext cx="1143000" cy="381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C256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 A · TICKET A2 · ADJACÊNCIA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54720"/>
            <a:ext cx="10883392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b="1" i="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Área diferente nos dois lados do enlace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12800" y="1874441"/>
            <a:ext cx="5729478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2F6F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Sintoma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12800" y="2169021"/>
            <a:ext cx="5729478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A4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Filial 2 foi reconfigurada por um terceirizado e ficou isolada.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12800" y="2595662"/>
            <a:ext cx="5729478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2F6F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Causa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12800" y="2890242"/>
            <a:ext cx="5729478" cy="523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A4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Ethernet0/0 da BR2 está na área 0. O ABR1 coloca esse enlace na área 1.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12800" y="3565723"/>
            <a:ext cx="5562600" cy="802481"/>
          </a:xfrm>
          <a:prstGeom prst="roundRect">
            <a:avLst>
              <a:gd name="adj" fmla="val 9496"/>
            </a:avLst>
          </a:prstGeom>
          <a:solidFill>
            <a:srgbClr val="FBE7D3"/>
          </a:solidFill>
          <a:ln/>
        </p:spPr>
        <p:txBody>
          <a:bodyPr wrap="square" lIns="155482" tIns="130082" rIns="0" bIns="104682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Lição:</a:t>
            </a:r>
            <a:r>
              <a:rPr lang="en-US" sz="14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 log “mismatched area ID” entrega o problema e até o endereço do vizinho.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680200" y="1874441"/>
            <a:ext cx="4699000" cy="3139083"/>
          </a:xfrm>
          <a:prstGeom prst="roundRect">
            <a:avLst>
              <a:gd name="adj" fmla="val 3237"/>
            </a:avLst>
          </a:prstGeom>
          <a:solidFill>
            <a:srgbClr val="14213D"/>
          </a:solidFill>
          <a:ln/>
        </p:spPr>
      </p:sp>
      <p:sp>
        <p:nvSpPr>
          <p:cNvPr id="10" name="Text 8"/>
          <p:cNvSpPr/>
          <p:nvPr/>
        </p:nvSpPr>
        <p:spPr>
          <a:xfrm>
            <a:off x="6934200" y="2128441"/>
            <a:ext cx="431673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F2A65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Investigar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934200" y="2430661"/>
            <a:ext cx="431673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8ECF2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ABR1# show ip ospf neighbor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934200" y="2732881"/>
            <a:ext cx="431673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8ECF2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ABR1# show logging | i mismatched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934200" y="3035102"/>
            <a:ext cx="431673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8ECF2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mismatched area ID from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934200" y="3337322"/>
            <a:ext cx="431673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8ECF2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backbone area from 10.1.12.2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934200" y="3639542"/>
            <a:ext cx="431673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8ECF2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BR2# show ip ospf interface brief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934200" y="3941763"/>
            <a:ext cx="431673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9CC3E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Corrigir na BR2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934200" y="4243983"/>
            <a:ext cx="431673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8ECF2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interface Ethernet0/0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934200" y="4546203"/>
            <a:ext cx="431673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8ECF2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ip ospf 1 area 1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A75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Troubleshooting OSPF · Lab OSPF-A</a:t>
            </a:r>
            <a:endParaRPr lang="en-US" sz="1200" dirty="0"/>
          </a:p>
        </p:txBody>
      </p:sp>
      <p:pic>
        <p:nvPicPr>
          <p:cNvPr id="20" name="Image 0" descr="ABRedes">    </p:cNvPr>
          <p:cNvPicPr>
            <a:picLocks noChangeAspect="1"/>
          </p:cNvPicPr>
          <p:nvPr/>
        </p:nvPicPr>
        <p:blipFill>
          <a:blip r:embed="rId1"/>
          <a:srcRect l="-283" r="-283" t="0" b="0"/>
          <a:stretch/>
        </p:blipFill>
        <p:spPr>
          <a:xfrm>
            <a:off x="10236200" y="6172200"/>
            <a:ext cx="1143000" cy="381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C256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 A · TICKET A4 · ÁREAS ESPECIAIS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54720"/>
            <a:ext cx="10883392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b="1" i="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Flag stub divergente: sem vizinho e sem log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12800" y="1874441"/>
            <a:ext cx="5729478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2F6F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Sintoma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12800" y="2169021"/>
            <a:ext cx="5729478" cy="523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A4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Filial 1 não sobe vizinhança com o ABR1. Cabo e IPs já foram conferidos.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12800" y="2844502"/>
            <a:ext cx="5729478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2F6F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Causa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12800" y="3139083"/>
            <a:ext cx="5729478" cy="523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A4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ABR1 trata a área 1 como stub. A BR1 não tem area 1 stub no OSPFv2 e acha que a área é normal.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12800" y="3814564"/>
            <a:ext cx="5562600" cy="802481"/>
          </a:xfrm>
          <a:prstGeom prst="roundRect">
            <a:avLst>
              <a:gd name="adj" fmla="val 9496"/>
            </a:avLst>
          </a:prstGeom>
          <a:solidFill>
            <a:srgbClr val="FBE7D3"/>
          </a:solidFill>
          <a:ln/>
        </p:spPr>
        <p:txBody>
          <a:bodyPr wrap="square" lIns="155482" tIns="130082" rIns="0" bIns="104682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Lição:</a:t>
            </a:r>
            <a:r>
              <a:rPr lang="en-US" sz="14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 flag stub vai no hello. Todos os roteadores da área precisam concordar.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680200" y="1874441"/>
            <a:ext cx="4699000" cy="3139083"/>
          </a:xfrm>
          <a:prstGeom prst="roundRect">
            <a:avLst>
              <a:gd name="adj" fmla="val 3237"/>
            </a:avLst>
          </a:prstGeom>
          <a:solidFill>
            <a:srgbClr val="14213D"/>
          </a:solidFill>
          <a:ln/>
        </p:spPr>
      </p:sp>
      <p:sp>
        <p:nvSpPr>
          <p:cNvPr id="10" name="Text 8"/>
          <p:cNvSpPr/>
          <p:nvPr/>
        </p:nvSpPr>
        <p:spPr>
          <a:xfrm>
            <a:off x="6934200" y="2128441"/>
            <a:ext cx="431673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F2A65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Investigar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934200" y="2430661"/>
            <a:ext cx="431673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8ECF2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ABR1# show ip ospf neighbor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934200" y="2732881"/>
            <a:ext cx="431673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8ECF2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ABR1# show ip ospf | i stub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934200" y="3035102"/>
            <a:ext cx="431673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8ECF2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BR1# show ip ospf | i normal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934200" y="3337322"/>
            <a:ext cx="431673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8ECF2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 normal 0 stub 0 nssa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934200" y="3639542"/>
            <a:ext cx="431673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8ECF2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ABR1# debug ip ospf hello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934200" y="3941763"/>
            <a:ext cx="431673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9CC3E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Corrigir na BR1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934200" y="4243983"/>
            <a:ext cx="431673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8ECF2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router ospf 1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934200" y="4546203"/>
            <a:ext cx="431673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8ECF2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area 1 stub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A75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Troubleshooting OSPF · Lab OSPF-A</a:t>
            </a:r>
            <a:endParaRPr lang="en-US" sz="1200" dirty="0"/>
          </a:p>
        </p:txBody>
      </p:sp>
      <p:pic>
        <p:nvPicPr>
          <p:cNvPr id="20" name="Image 0" descr="ABRedes">    </p:cNvPr>
          <p:cNvPicPr>
            <a:picLocks noChangeAspect="1"/>
          </p:cNvPicPr>
          <p:nvPr/>
        </p:nvPicPr>
        <p:blipFill>
          <a:blip r:embed="rId1"/>
          <a:srcRect l="-283" r="-283" t="0" b="0"/>
          <a:stretch/>
        </p:blipFill>
        <p:spPr>
          <a:xfrm>
            <a:off x="10236200" y="6172200"/>
            <a:ext cx="1143000" cy="381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7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75"/>
              </a:lnSpc>
              <a:buNone/>
            </a:pPr>
            <a:r>
              <a:rPr lang="en-US" sz="1196" b="1" spc="150" kern="0" dirty="0">
                <a:solidFill>
                  <a:srgbClr val="2F6F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 OSPF-B · TOPOLOGIA</a:t>
            </a:r>
            <a:endParaRPr lang="en-US" sz="1196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28328"/>
            <a:ext cx="10883392" cy="4148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70"/>
              </a:lnSpc>
              <a:buNone/>
            </a:pPr>
            <a:r>
              <a:rPr lang="en-US" sz="2791" b="1" i="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ASBR com internet, filial e DC com dois links</a:t>
            </a:r>
            <a:endParaRPr lang="en-US" sz="2791" dirty="0"/>
          </a:p>
        </p:txBody>
      </p:sp>
      <p:sp>
        <p:nvSpPr>
          <p:cNvPr id="4" name="Shape 2"/>
          <p:cNvSpPr/>
          <p:nvPr/>
        </p:nvSpPr>
        <p:spPr>
          <a:xfrm>
            <a:off x="812800" y="1820962"/>
            <a:ext cx="4826000" cy="4038600"/>
          </a:xfrm>
          <a:prstGeom prst="roundRect">
            <a:avLst>
              <a:gd name="adj" fmla="val 2516"/>
            </a:avLst>
          </a:prstGeom>
          <a:solidFill>
            <a:srgbClr val="FFFFFF"/>
          </a:solidFill>
          <a:ln/>
        </p:spPr>
      </p:sp>
      <p:pic>
        <p:nvPicPr>
          <p:cNvPr id="5" name="Image 0" descr="Topologia do Lab OSPF-B: ISP ligado ao EDGE; EDGE, ABR1 e ABR2 na área 0; BR1 na área 1 atrás do ABR1; DC1 na área 2 com link de 1G para o ABR2 e backup de 100M para o ABR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6654" y="1820962"/>
            <a:ext cx="4758292" cy="4038600"/>
          </a:xfrm>
          <a:custGeom>
            <a:avLst/>
            <a:gdLst/>
            <a:ahLst/>
            <a:cxnLst/>
            <a:rect l="l" t="t" r="r" b="b"/>
            <a:pathLst>
              <a:path w="4758292" h="4038600">
                <a:moveTo>
                  <a:pt x="0" y="25883"/>
                </a:moveTo>
                <a:arcTo wR="101600" hR="101600" stAng="13690815" swAng="2509185"/>
                <a:lnTo>
                  <a:pt x="4690546" y="0"/>
                </a:lnTo>
                <a:arcTo wR="101600" hR="101600" stAng="16200000" swAng="2509185"/>
                <a:lnTo>
                  <a:pt x="4758292" y="4012717"/>
                </a:lnTo>
                <a:arcTo wR="101600" hR="101600" stAng="2890815" swAng="2509185"/>
                <a:lnTo>
                  <a:pt x="67746" y="4038600"/>
                </a:lnTo>
                <a:arcTo wR="101600" hR="101600" stAng="5400000" swAng="2509185"/>
                <a:close/>
              </a:path>
            </a:pathLst>
          </a:custGeom>
        </p:spPr>
      </p:pic>
      <p:sp>
        <p:nvSpPr>
          <p:cNvPr id="6" name="Shape 3"/>
          <p:cNvSpPr/>
          <p:nvPr/>
        </p:nvSpPr>
        <p:spPr>
          <a:xfrm>
            <a:off x="5949950" y="1827312"/>
            <a:ext cx="5422900" cy="878780"/>
          </a:xfrm>
          <a:prstGeom prst="roundRect">
            <a:avLst>
              <a:gd name="adj" fmla="val 10839"/>
            </a:avLst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134100" y="2011462"/>
            <a:ext cx="5206238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EDGE é o ASBR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6134100" y="2290862"/>
            <a:ext cx="5206238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3A4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 a default estática para o ISP e deve anunciá-la no OSPF.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949950" y="2871192"/>
            <a:ext cx="5422900" cy="878780"/>
          </a:xfrm>
          <a:prstGeom prst="roundRect">
            <a:avLst>
              <a:gd name="adj" fmla="val 10839"/>
            </a:avLst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134100" y="3055342"/>
            <a:ext cx="5206238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BR1 na área 1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6134100" y="3334742"/>
            <a:ext cx="5206238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3A4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Quatro LANs sumarizadas pelo ABR1 em 10.1.4.0/22.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5949950" y="3915073"/>
            <a:ext cx="5422900" cy="878780"/>
          </a:xfrm>
          <a:prstGeom prst="roundRect">
            <a:avLst>
              <a:gd name="adj" fmla="val 10839"/>
            </a:avLst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134100" y="4099223"/>
            <a:ext cx="5206238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DC1 com dois links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6134100" y="4378623"/>
            <a:ext cx="5206238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3A4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Principal de 1G via ABR2 e backup de 100M via ABR1 (tracejado).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A75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OSPFv2 para IPv4 · OSPFv3 AF para IPv6</a:t>
            </a:r>
            <a:endParaRPr lang="en-US" sz="1200" dirty="0"/>
          </a:p>
        </p:txBody>
      </p:sp>
      <p:pic>
        <p:nvPicPr>
          <p:cNvPr id="16" name="Image 1" descr="ABRedes">    </p:cNvPr>
          <p:cNvPicPr>
            <a:picLocks noChangeAspect="1"/>
          </p:cNvPicPr>
          <p:nvPr/>
        </p:nvPicPr>
        <p:blipFill>
          <a:blip r:embed="rId2"/>
          <a:srcRect l="-283" r="-283" t="0" b="0"/>
          <a:stretch/>
        </p:blipFill>
        <p:spPr>
          <a:xfrm>
            <a:off x="10236200" y="6172200"/>
            <a:ext cx="1143000" cy="381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2F6F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 B · TICKET B1 · ROTEAMENTO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54720"/>
            <a:ext cx="10883392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b="1" i="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 type diferente: FULL, mas sem rotas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12800" y="1874441"/>
            <a:ext cx="5729478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2F6F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Sintoma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12800" y="2169021"/>
            <a:ext cx="5729478" cy="523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A4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vizinho BR1 está FULL no ABR1, mas as LANs 10.1.4.0 a 10.1.7.0 não aparecem em lugar nenhum.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12800" y="2844502"/>
            <a:ext cx="5729478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2F6F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Causa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12800" y="3139083"/>
            <a:ext cx="5729478" cy="523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A4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BR1 está como point-to-point e o ABR1 como broadcast. As LSAs descrevem o enlace de formas diferentes e o SPF descarta as rotas.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12800" y="3814564"/>
            <a:ext cx="5562600" cy="553641"/>
          </a:xfrm>
          <a:prstGeom prst="roundRect">
            <a:avLst>
              <a:gd name="adj" fmla="val 13763"/>
            </a:avLst>
          </a:prstGeom>
          <a:solidFill>
            <a:srgbClr val="E4EDF7"/>
          </a:solidFill>
          <a:ln/>
        </p:spPr>
        <p:txBody>
          <a:bodyPr wrap="square" lIns="155482" tIns="130082" rIns="0" bIns="104682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Lição:</a:t>
            </a:r>
            <a:r>
              <a:rPr lang="en-US" sz="14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FULL não garante rotas na tabela.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680200" y="1874441"/>
            <a:ext cx="4699000" cy="3441303"/>
          </a:xfrm>
          <a:prstGeom prst="roundRect">
            <a:avLst>
              <a:gd name="adj" fmla="val 2952"/>
            </a:avLst>
          </a:prstGeom>
          <a:solidFill>
            <a:srgbClr val="14213D"/>
          </a:solidFill>
          <a:ln/>
        </p:spPr>
      </p:sp>
      <p:sp>
        <p:nvSpPr>
          <p:cNvPr id="10" name="Text 8"/>
          <p:cNvSpPr/>
          <p:nvPr/>
        </p:nvSpPr>
        <p:spPr>
          <a:xfrm>
            <a:off x="6934200" y="2128441"/>
            <a:ext cx="431673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F2A65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Investigar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934200" y="2430661"/>
            <a:ext cx="431673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8ECF2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ABR1# show ip ospf neighbor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934200" y="2732881"/>
            <a:ext cx="431673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8ECF2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ABR1# show ip route ospf | i 10.1.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934200" y="3035102"/>
            <a:ext cx="431673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8ECF2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ABR1# show ip ospf interface e0/2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934200" y="3337322"/>
            <a:ext cx="431673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8ECF2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Network Type BROADCAST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934200" y="3639542"/>
            <a:ext cx="431673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8ECF2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BR1# show ip ospf interface e0/0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934200" y="3941763"/>
            <a:ext cx="431673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8ECF2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Network Type POINT_TO_POINT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934200" y="4243983"/>
            <a:ext cx="431673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9CC3E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Corrigir na BR1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934200" y="4546203"/>
            <a:ext cx="431673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8ECF2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interface Ethernet0/0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934200" y="4848423"/>
            <a:ext cx="431673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8ECF2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no ip ospf network point-to-point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A75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Troubleshooting OSPF · Lab OSPF-B · ordem: B1, B2, B3, B4</a:t>
            </a:r>
            <a:endParaRPr lang="en-US" sz="1200" dirty="0"/>
          </a:p>
        </p:txBody>
      </p:sp>
      <p:pic>
        <p:nvPicPr>
          <p:cNvPr id="21" name="Image 0" descr="ABRedes">    </p:cNvPr>
          <p:cNvPicPr>
            <a:picLocks noChangeAspect="1"/>
          </p:cNvPicPr>
          <p:nvPr/>
        </p:nvPicPr>
        <p:blipFill>
          <a:blip r:embed="rId1"/>
          <a:srcRect l="-283" r="-283" t="0" b="0"/>
          <a:stretch/>
        </p:blipFill>
        <p:spPr>
          <a:xfrm>
            <a:off x="10236200" y="6172200"/>
            <a:ext cx="1143000" cy="381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2F6F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 B · TICKET B2 · SUMARIZAÇÃO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54720"/>
            <a:ext cx="10883392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b="1" i="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area range com not-advertise esconde a filial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12800" y="1874441"/>
            <a:ext cx="5729478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2F6F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Sintoma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12800" y="2169021"/>
            <a:ext cx="5729478" cy="523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A4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rotas da filial voltaram ao ABR1, mas o resto da empresa ainda não as enxerga.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12800" y="2844502"/>
            <a:ext cx="5729478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2F6F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Causa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12800" y="3139083"/>
            <a:ext cx="5729478" cy="523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A4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ABR1 tem area 1 range 10.1.4.0/22 com not-advertise. Nem o sumário nem as /24 saem da área 1.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12800" y="3814564"/>
            <a:ext cx="5562600" cy="802481"/>
          </a:xfrm>
          <a:prstGeom prst="roundRect">
            <a:avLst>
              <a:gd name="adj" fmla="val 9496"/>
            </a:avLst>
          </a:prstGeom>
          <a:solidFill>
            <a:srgbClr val="E4EDF7"/>
          </a:solidFill>
          <a:ln/>
        </p:spPr>
        <p:txBody>
          <a:bodyPr wrap="square" lIns="155482" tIns="130082" rIns="0" bIns="104682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Lição:</a:t>
            </a:r>
            <a:r>
              <a:rPr lang="en-US" sz="14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not-advertise serve para esconder prefixos. Usado sem querer, some com a filial inteira.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680200" y="1874441"/>
            <a:ext cx="4699000" cy="3441303"/>
          </a:xfrm>
          <a:prstGeom prst="roundRect">
            <a:avLst>
              <a:gd name="adj" fmla="val 2952"/>
            </a:avLst>
          </a:prstGeom>
          <a:solidFill>
            <a:srgbClr val="14213D"/>
          </a:solidFill>
          <a:ln/>
        </p:spPr>
      </p:sp>
      <p:sp>
        <p:nvSpPr>
          <p:cNvPr id="10" name="Text 8"/>
          <p:cNvSpPr/>
          <p:nvPr/>
        </p:nvSpPr>
        <p:spPr>
          <a:xfrm>
            <a:off x="6934200" y="2128441"/>
            <a:ext cx="431673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F2A65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Investigar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934200" y="2430661"/>
            <a:ext cx="431673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8ECF2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EDGE# show ip route 10.1.4.0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934200" y="2732881"/>
            <a:ext cx="431673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8ECF2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ABR1# show ip route ospf | i 10.1.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934200" y="3035102"/>
            <a:ext cx="431673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8ECF2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ABR1# show ip ospf | i range|DoNot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934200" y="3337322"/>
            <a:ext cx="431673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8ECF2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10.1.4.0/22 Passive DoNotAdvertise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934200" y="3639542"/>
            <a:ext cx="431673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9CC3E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Corrigir no ABR1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934200" y="3941763"/>
            <a:ext cx="431673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8ECF2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router ospf 1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934200" y="4243983"/>
            <a:ext cx="431673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8ECF2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no area 1 range 10.1.4.0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934200" y="4546203"/>
            <a:ext cx="431673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8ECF2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255.255.252.0 not-advertise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934200" y="4848423"/>
            <a:ext cx="431673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8ECF2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area 1 range 10.1.4.0 255.255.252.0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A75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Troubleshooting OSPF · Lab OSPF-B · faça depois do B1</a:t>
            </a:r>
            <a:endParaRPr lang="en-US" sz="1200" dirty="0"/>
          </a:p>
        </p:txBody>
      </p:sp>
      <p:pic>
        <p:nvPicPr>
          <p:cNvPr id="21" name="Image 0" descr="ABRedes">    </p:cNvPr>
          <p:cNvPicPr>
            <a:picLocks noChangeAspect="1"/>
          </p:cNvPicPr>
          <p:nvPr/>
        </p:nvPicPr>
        <p:blipFill>
          <a:blip r:embed="rId1"/>
          <a:srcRect l="-283" r="-283" t="0" b="0"/>
          <a:stretch/>
        </p:blipFill>
        <p:spPr>
          <a:xfrm>
            <a:off x="10236200" y="6172200"/>
            <a:ext cx="1143000" cy="381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2F6F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 B · TICKET B3 · ROTEAMENTO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54720"/>
            <a:ext cx="10883392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b="1" i="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ASBR sem default-information originate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12800" y="1874441"/>
            <a:ext cx="5729478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2F6F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Sintoma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12800" y="2169021"/>
            <a:ext cx="5729478" cy="523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A4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Ninguém da empresa navega na internet. O EDGE pinga 8.8.8.8 normalmente.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12800" y="2844502"/>
            <a:ext cx="5729478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2F6F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Causa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12800" y="3139083"/>
            <a:ext cx="5729478" cy="523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A4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EDGE tem a rota estática default, mas não a anuncia no OSPFv2. Falta default-information originate.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12800" y="3814564"/>
            <a:ext cx="5562600" cy="553641"/>
          </a:xfrm>
          <a:prstGeom prst="roundRect">
            <a:avLst>
              <a:gd name="adj" fmla="val 13763"/>
            </a:avLst>
          </a:prstGeom>
          <a:solidFill>
            <a:srgbClr val="E4EDF7"/>
          </a:solidFill>
          <a:ln/>
        </p:spPr>
        <p:txBody>
          <a:bodyPr wrap="square" lIns="155482" tIns="130082" rIns="0" bIns="104682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Lição:</a:t>
            </a:r>
            <a:r>
              <a:rPr lang="en-US" sz="14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uma rota estática no ASBR não entra no OSPF sozinha.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680200" y="1874441"/>
            <a:ext cx="4699000" cy="2836863"/>
          </a:xfrm>
          <a:prstGeom prst="roundRect">
            <a:avLst>
              <a:gd name="adj" fmla="val 3581"/>
            </a:avLst>
          </a:prstGeom>
          <a:solidFill>
            <a:srgbClr val="14213D"/>
          </a:solidFill>
          <a:ln/>
        </p:spPr>
      </p:sp>
      <p:sp>
        <p:nvSpPr>
          <p:cNvPr id="10" name="Text 8"/>
          <p:cNvSpPr/>
          <p:nvPr/>
        </p:nvSpPr>
        <p:spPr>
          <a:xfrm>
            <a:off x="6934200" y="2128441"/>
            <a:ext cx="431673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F2A65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Investigar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934200" y="2430661"/>
            <a:ext cx="431673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8ECF2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DC1# show ip route 0.0.0.0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934200" y="2732881"/>
            <a:ext cx="431673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8ECF2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% Network not in table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934200" y="3035102"/>
            <a:ext cx="431673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8ECF2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ABR2# show ip ospf database external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934200" y="3337322"/>
            <a:ext cx="431673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8ECF2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EDGE# show run | section router ospf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934200" y="3639542"/>
            <a:ext cx="431673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9CC3E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Corrigir no EDGE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934200" y="3941763"/>
            <a:ext cx="431673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8ECF2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router ospf 1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934200" y="4243983"/>
            <a:ext cx="431673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8ECF2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default-information originate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A75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Troubleshooting OSPF · Lab OSPF-B</a:t>
            </a:r>
            <a:endParaRPr lang="en-US" sz="1200" dirty="0"/>
          </a:p>
        </p:txBody>
      </p:sp>
      <p:pic>
        <p:nvPicPr>
          <p:cNvPr id="19" name="Image 0" descr="ABRedes">    </p:cNvPr>
          <p:cNvPicPr>
            <a:picLocks noChangeAspect="1"/>
          </p:cNvPicPr>
          <p:nvPr/>
        </p:nvPicPr>
        <p:blipFill>
          <a:blip r:embed="rId1"/>
          <a:srcRect l="-283" r="-283" t="0" b="0"/>
          <a:stretch/>
        </p:blipFill>
        <p:spPr>
          <a:xfrm>
            <a:off x="10236200" y="6172200"/>
            <a:ext cx="1143000" cy="381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2F6F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 B · TICKET B4 · SELEÇÃO DE CAMINHO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54720"/>
            <a:ext cx="10883392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b="1" i="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Gbps e 100 Mbps com o mesmo custo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12800" y="1874441"/>
            <a:ext cx="5729478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2F6F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Sintoma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12800" y="2169021"/>
            <a:ext cx="5729478" cy="523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A4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backups do datacenter estão lentos. Parte do tráfego sai pelo link de backup de 100 Mbps.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12800" y="2844502"/>
            <a:ext cx="5729478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2F6F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Causa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12800" y="3139083"/>
            <a:ext cx="5729478" cy="523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A4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reference-bandwidth padrão é 100 Mbps. Tudo de 100M para cima vira custo 1, e o DC1 faz ECMP pelos dois links.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12800" y="3814564"/>
            <a:ext cx="5562600" cy="802481"/>
          </a:xfrm>
          <a:prstGeom prst="roundRect">
            <a:avLst>
              <a:gd name="adj" fmla="val 9496"/>
            </a:avLst>
          </a:prstGeom>
          <a:solidFill>
            <a:srgbClr val="E4EDF7"/>
          </a:solidFill>
          <a:ln/>
        </p:spPr>
        <p:txBody>
          <a:bodyPr wrap="square" lIns="155482" tIns="130082" rIns="0" bIns="104682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Lição:</a:t>
            </a:r>
            <a:r>
              <a:rPr lang="en-US" sz="14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ajuste auto-cost reference-bandwidth igual em todos os roteadores.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680200" y="1874441"/>
            <a:ext cx="4699000" cy="3139083"/>
          </a:xfrm>
          <a:prstGeom prst="roundRect">
            <a:avLst>
              <a:gd name="adj" fmla="val 3237"/>
            </a:avLst>
          </a:prstGeom>
          <a:solidFill>
            <a:srgbClr val="14213D"/>
          </a:solidFill>
          <a:ln/>
        </p:spPr>
      </p:sp>
      <p:sp>
        <p:nvSpPr>
          <p:cNvPr id="10" name="Text 8"/>
          <p:cNvSpPr/>
          <p:nvPr/>
        </p:nvSpPr>
        <p:spPr>
          <a:xfrm>
            <a:off x="6934200" y="2128441"/>
            <a:ext cx="431673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F2A65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Investigar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934200" y="2430661"/>
            <a:ext cx="431673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8ECF2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DC1# show ip route 10.255.255.2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934200" y="2732881"/>
            <a:ext cx="431673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8ECF2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via 10.2.22.1 (100M) e 10.2.21.1 (1G)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934200" y="3035102"/>
            <a:ext cx="431673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8ECF2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DC1# show ip ospf interface brief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934200" y="3337322"/>
            <a:ext cx="431673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8ECF2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Et0/0 cost 1 · Et0/1 cost 1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934200" y="3639542"/>
            <a:ext cx="431673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8ECF2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DC1# show ip ospf | i Reference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934200" y="3941763"/>
            <a:ext cx="431673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9CC3E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Corrigir em TODOS os roteadores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934200" y="4243983"/>
            <a:ext cx="431673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8ECF2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router ospf 1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934200" y="4546203"/>
            <a:ext cx="431673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8ECF2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auto-cost reference-bandwidth 10000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A75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Troubleshooting OSPF · Lab OSPF-B</a:t>
            </a:r>
            <a:endParaRPr lang="en-US" sz="1200" dirty="0"/>
          </a:p>
        </p:txBody>
      </p:sp>
      <p:pic>
        <p:nvPicPr>
          <p:cNvPr id="20" name="Image 0" descr="ABRedes">    </p:cNvPr>
          <p:cNvPicPr>
            <a:picLocks noChangeAspect="1"/>
          </p:cNvPicPr>
          <p:nvPr/>
        </p:nvPicPr>
        <p:blipFill>
          <a:blip r:embed="rId1"/>
          <a:srcRect l="-283" r="-283" t="0" b="0"/>
          <a:stretch/>
        </p:blipFill>
        <p:spPr>
          <a:xfrm>
            <a:off x="10236200" y="6172200"/>
            <a:ext cx="1143000" cy="381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9CC3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BÔNUS · SE SOBRAR TEMPO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33092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F6F7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Agora só o IPv6 falha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2800" y="2082701"/>
            <a:ext cx="5156200" cy="2389684"/>
          </a:xfrm>
          <a:prstGeom prst="roundRect">
            <a:avLst>
              <a:gd name="adj" fmla="val 4252"/>
            </a:avLst>
          </a:prstGeom>
          <a:solidFill>
            <a:srgbClr val="22315A"/>
          </a:solidFill>
          <a:ln/>
        </p:spPr>
      </p:sp>
      <p:sp>
        <p:nvSpPr>
          <p:cNvPr id="5" name="Text 3"/>
          <p:cNvSpPr/>
          <p:nvPr/>
        </p:nvSpPr>
        <p:spPr>
          <a:xfrm>
            <a:off x="1066800" y="2336701"/>
            <a:ext cx="4787646" cy="299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9CC3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A5 · Lab A · DC1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66800" y="2737941"/>
            <a:ext cx="4787646" cy="523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D9DE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DC1 foi migrado com um modelo antigo de configuração IPv6.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66800" y="3362623"/>
            <a:ext cx="4787646" cy="523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D9DE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Causa: ipv6 router ospf (tradicional) misturado com router ospfv3 (AF).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66800" y="3987304"/>
            <a:ext cx="4787646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F2A65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show ospfv3 neighbor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23000" y="2082701"/>
            <a:ext cx="5156200" cy="2389684"/>
          </a:xfrm>
          <a:prstGeom prst="roundRect">
            <a:avLst>
              <a:gd name="adj" fmla="val 4252"/>
            </a:avLst>
          </a:prstGeom>
          <a:solidFill>
            <a:srgbClr val="22315A"/>
          </a:solidFill>
          <a:ln/>
        </p:spPr>
      </p:sp>
      <p:sp>
        <p:nvSpPr>
          <p:cNvPr id="10" name="Text 8"/>
          <p:cNvSpPr/>
          <p:nvPr/>
        </p:nvSpPr>
        <p:spPr>
          <a:xfrm>
            <a:off x="6477000" y="2336701"/>
            <a:ext cx="4787646" cy="299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F2A6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B5 · Lab B · EDGE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77000" y="2737941"/>
            <a:ext cx="4787646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D9DE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IPv4 navega na internet, o IPv6 não.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77000" y="3113782"/>
            <a:ext cx="4787646" cy="523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D9DE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Causa: o AF IPv6 do EDGE não tem default-information originate.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77000" y="3738463"/>
            <a:ext cx="4787646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F2A65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show ipv6 route ::/0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12800" y="4777184"/>
            <a:ext cx="1088339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6F7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Lição:</a:t>
            </a:r>
            <a:r>
              <a:rPr lang="en-US" sz="1500" dirty="0">
                <a:solidFill>
                  <a:srgbClr val="F6F7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cada address-family tem sua própria configuração. Corrigir o IPv4 não corrige o IPv6.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E9A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bônus começam corrigidos: aplique o bloco “Quebrar” do roteiro antes</a:t>
            </a:r>
            <a:endParaRPr lang="en-US" sz="1200" dirty="0"/>
          </a:p>
        </p:txBody>
      </p:sp>
      <p:pic>
        <p:nvPicPr>
          <p:cNvPr id="16" name="Image 0" descr="ABRedes">    </p:cNvPr>
          <p:cNvPicPr>
            <a:picLocks noChangeAspect="1"/>
          </p:cNvPicPr>
          <p:nvPr/>
        </p:nvPicPr>
        <p:blipFill>
          <a:blip r:embed="rId1"/>
          <a:srcRect l="0" r="0" t="-599" b="-599"/>
          <a:stretch/>
        </p:blipFill>
        <p:spPr>
          <a:xfrm>
            <a:off x="10236200" y="6172200"/>
            <a:ext cx="1143000" cy="381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6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C256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COLA DE COMANDOS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8012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comandos que resolveram os oito tickets</a:t>
            </a:r>
            <a:endParaRPr lang="en-US" sz="3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1993801"/>
          <a:ext cx="10553700" cy="2874169"/>
        </p:xfrm>
        <a:graphic>
          <a:graphicData uri="http://schemas.openxmlformats.org/drawingml/2006/table">
            <a:tbl>
              <a:tblPr/>
              <a:tblGrid>
                <a:gridCol w="4643628"/>
                <a:gridCol w="5910072"/>
              </a:tblGrid>
              <a:tr h="35927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6F7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Comando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6F7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Responde a pergunta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35927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show ip ospf neighbor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Quem é vizinho e em que estado?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927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show ip ospf interface [brief]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Área, timers, network type, custo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3"/>
                    </a:solidFill>
                  </a:tcPr>
                </a:tc>
              </a:tr>
              <a:tr h="35927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show ip ospf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Tipo de área, ranges, reference-bandwidth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927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show ip ospf database [tipo]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 LSA existe? Quem a originou?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3"/>
                    </a:solidFill>
                  </a:tcPr>
                </a:tc>
              </a:tr>
              <a:tr h="35927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show ip route ospf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 que o SPF instalou, e por qual caminho?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927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show logging | i OSPF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Área errada, EXSTART, retransmissões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3"/>
                    </a:solidFill>
                  </a:tcPr>
                </a:tc>
              </a:tr>
              <a:tr h="35927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debug ip ospf hello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Timers ou flag stub divergentes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A75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Troubleshooting OSPF · ENARSI v9</a:t>
            </a:r>
            <a:endParaRPr lang="en-US" sz="1200" dirty="0"/>
          </a:p>
        </p:txBody>
      </p:sp>
      <p:pic>
        <p:nvPicPr>
          <p:cNvPr id="6" name="Image 0" descr="ABRedes">    </p:cNvPr>
          <p:cNvPicPr>
            <a:picLocks noChangeAspect="1"/>
          </p:cNvPicPr>
          <p:nvPr/>
        </p:nvPicPr>
        <p:blipFill>
          <a:blip r:embed="rId1"/>
          <a:srcRect l="-283" r="-283" t="0" b="0"/>
          <a:stretch/>
        </p:blipFill>
        <p:spPr>
          <a:xfrm>
            <a:off x="10236200" y="6172200"/>
            <a:ext cx="1143000" cy="381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roubleshooting OSPF — ENARSI">
  <a:themeElements>
    <a:clrScheme name="Troubleshooting OSPF — ENARSI">
      <a:dk1>
        <a:srgbClr val="14213D"/>
      </a:dk1>
      <a:lt1>
        <a:srgbClr val="F6F7F4"/>
      </a:lt1>
      <a:dk2>
        <a:srgbClr val="4D576B"/>
      </a:dk2>
      <a:lt2>
        <a:srgbClr val="DFE2E2"/>
      </a:lt2>
      <a:accent1>
        <a:srgbClr val="2F6FB0"/>
      </a:accent1>
      <a:accent2>
        <a:srgbClr val="C2560F"/>
      </a:accent2>
      <a:accent3>
        <a:srgbClr val="9CC3E8"/>
      </a:accent3>
      <a:accent4>
        <a:srgbClr val="F2A65A"/>
      </a:accent4>
      <a:accent5>
        <a:srgbClr val="FBE7D3"/>
      </a:accent5>
      <a:accent6>
        <a:srgbClr val="22315A"/>
      </a:accent6>
      <a:hlink>
        <a:srgbClr val="0563C1"/>
      </a:hlink>
      <a:folHlink>
        <a:srgbClr val="954F72"/>
      </a:folHlink>
    </a:clrScheme>
    <a:fontScheme name="Troubleshooting OSPF — ENARSI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Troubleshooting OSPF — ENARSI</dc:title>
  <dc:subject/>
  <dc:creator/>
  <cp:lastModifiedBy/>
  <cp:revision>1</cp:revision>
  <dcterms:created xsi:type="dcterms:W3CDTF">2026-10-14T20:01:15Z</dcterms:created>
  <dcterms:modified xsi:type="dcterms:W3CDTF">2026-10-14T20:01:15Z</dcterms:modified>
</cp:coreProperties>
</file>