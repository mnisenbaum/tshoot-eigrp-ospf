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Hoje: 15 min de conceito e o resto em demo. Cada problema vira um ticket de suporte, com queixa do usuário, investigação e correção.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não pular direto para o running-config. Primeiro provar onde está o problema. Nos labs, todos os defeitos de vizinhança estão só no IPv4,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aula. Os quatro primeiros impedem a vizinhança. Os quatro seguintes deixam a vizinhança subir, mas estragam o conteúdo da tabela, que é mais difícil de achar.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Licença do CML2: 20 nós. Deixar ligados só os dois labs de EIGRP neste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empresa antes dos tickets: dois roteadores de núcleo, três filiais e o datacenter. Todos os vizinhos deveriam subir. Neste lab, quatro não sobem no IPv4.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primeiro o ping IPv6 funcionando: o meio físico está OK. Depois comparar o show key chain dos dois 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interface passiva nem aparece no show ip eigrp interfaces. O show ip protocols lista "Passive Interface(s)". O comando completo é autonomous-system 100; no slide está abreviado.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cabeçalho do show ip eigrp neighbors na BR3 já mostra AS(1000). No comando real escreva autonomous-system por extenso.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log se repete a cada tentativa de adjacência. É a saída real do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Lembrar a ordem dos tickets: B1, B2, B3 e por último B4, porque o B3 esconde o B4.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daqui, todos os vizinhos estão UP. O problema mudou de lugar: está no conteúdo das tabelas.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vizinho CORE2 aparece normalmente na BR2: o filtro age no que é anunciado, não na adjacência. Cada linha seq é um comando só; no slide foi quebrada para caber.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show ip eigrp topology do CORE2 aparecem duas entradas: Internal vinda de 12.12.12.12 (BR2) e External vinda do EDGE. Mostrar por que a interna 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o B3 não for corrigido, o CORE1 recebe a default falsa da BR2 e o B4 fica escondido. Por isso a ordem B3 antes de B4. Comparar com o OSPF, onde RID duplicado causa problemas bem mais graves.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comandos de quebrar e corrigir estão nos arquivos Lab_EIGRP-A.md e Lab_EIGRP-B.md.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bloco EIGRP. Desligar os labs EIGRP e ligar os labs OSPF.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641"/>
            <a:ext cx="10566400" cy="409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641"/>
            <a:ext cx="10566400" cy="409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6664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CCNP ENARSI V9 · MÓDULO 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694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2358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C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tickets reais, dois labs no CML2, uma demo ao vivo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307780"/>
            <a:ext cx="1215132" cy="38348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Vizinhança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80332" y="4307780"/>
            <a:ext cx="1554559" cy="383480"/>
          </a:xfrm>
          <a:prstGeom prst="roundRect">
            <a:avLst>
              <a:gd name="adj" fmla="val 50000"/>
            </a:avLst>
          </a:prstGeom>
          <a:solidFill>
            <a:srgbClr val="9CC3E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 rotas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7291" y="4307780"/>
            <a:ext cx="2149574" cy="383480"/>
          </a:xfrm>
          <a:prstGeom prst="roundRect">
            <a:avLst>
              <a:gd name="adj" fmla="val 50000"/>
            </a:avLst>
          </a:prstGeom>
          <a:solidFill>
            <a:srgbClr val="D9DE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Pilha dupla IPv4 + IPv6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Moises · Demo em EIGRP named mode, AS 100</a:t>
            </a:r>
            <a:endParaRPr lang="en-US" sz="1200" dirty="0"/>
          </a:p>
        </p:txBody>
      </p:sp>
      <p:pic>
        <p:nvPicPr>
          <p:cNvPr id="9" name="Image 0" descr="ABRedes — Feras formando Feras">    </p:cNvPr>
          <p:cNvPicPr>
            <a:picLocks noChangeAspect="1"/>
          </p:cNvPicPr>
          <p:nvPr/>
        </p:nvPicPr>
        <p:blipFill>
          <a:blip r:embed="rId1"/>
          <a:srcRect l="0" r="0" t="-178" b="-178"/>
          <a:stretch/>
        </p:blipFill>
        <p:spPr>
          <a:xfrm>
            <a:off x="9093200" y="609600"/>
            <a:ext cx="2286000" cy="755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ticket segue o mesmo roteiro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190651"/>
            <a:ext cx="19786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400201"/>
            <a:ext cx="16103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700" y="2892921"/>
            <a:ext cx="16103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8700" y="3238302"/>
            <a:ext cx="16103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Queixa do usuário e um ping ou traceroute que falha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62870" y="2190651"/>
            <a:ext cx="19787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420" y="2400201"/>
            <a:ext cx="16104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72420" y="2892921"/>
            <a:ext cx="16104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72420" y="3238302"/>
            <a:ext cx="16104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Vizinhos, tabela de rotas, tabela de topologia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6690" y="2190651"/>
            <a:ext cx="19786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6240" y="2400201"/>
            <a:ext cx="16103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16240" y="2892921"/>
            <a:ext cx="16103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16240" y="3238302"/>
            <a:ext cx="16103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show, o log ou o debug que prova o motivo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50410" y="2190651"/>
            <a:ext cx="19787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9960" y="2400201"/>
            <a:ext cx="16104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59960" y="2892921"/>
            <a:ext cx="16104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9960" y="3238302"/>
            <a:ext cx="161042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menor mudança que resolve a causa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94230" y="2190651"/>
            <a:ext cx="1978620" cy="1950442"/>
          </a:xfrm>
          <a:prstGeom prst="roundRect">
            <a:avLst>
              <a:gd name="adj" fmla="val 48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3780" y="2400201"/>
            <a:ext cx="16103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3780" y="2892921"/>
            <a:ext cx="16103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3780" y="3238302"/>
            <a:ext cx="161032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 o teste do passo 1, agora com sucesso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503043"/>
            <a:ext cx="10566400" cy="889000"/>
          </a:xfrm>
          <a:prstGeom prst="roundRect">
            <a:avLst>
              <a:gd name="adj" fmla="val 11429"/>
            </a:avLst>
          </a:prstGeom>
          <a:solidFill>
            <a:srgbClr val="E4EDF7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 da pilha dupla: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o IPv6 funciona e o IPv4 não, o meio físico está bom. O problema está no address-family IPv4.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ENARSI v9</a:t>
            </a:r>
            <a:endParaRPr lang="en-US" sz="1200" dirty="0"/>
          </a:p>
        </p:txBody>
      </p:sp>
      <p:pic>
        <p:nvPicPr>
          <p:cNvPr id="2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tipos de problema do EIGRP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01"/>
          <a:ext cx="10553700" cy="3592711"/>
        </p:xfrm>
        <a:graphic>
          <a:graphicData uri="http://schemas.openxmlformats.org/drawingml/2006/table">
            <a:tbl>
              <a:tblPr/>
              <a:tblGrid>
                <a:gridCol w="2532888"/>
                <a:gridCol w="4854702"/>
                <a:gridCol w="1266444"/>
                <a:gridCol w="1899666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Categoria ENARSI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na demo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 Autenticação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Key-string diferente no key chain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 Vizinhança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Passive-interface no uplink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 Vizinhança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Número de AS diferente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 Vizinhança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K-values diferentes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 Stub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Stub receive-only não anuncia nada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 Tabela de rotas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Prefix-list sem permit final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 Sumarização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Sumário 0.0.0.0/0 vira default interna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 Router-ID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 duplicado descarta rotas externas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 EIGRP IPv6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Bônus: falha só no AF IPv6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 · B5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CORE2 · EDGE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= vizinhança · Lab B = rotas</a:t>
            </a:r>
            <a:endParaRPr lang="en-US" sz="1200" dirty="0"/>
          </a:p>
        </p:txBody>
      </p:sp>
      <p:pic>
        <p:nvPicPr>
          <p:cNvPr id="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LABS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empresa, dois cenários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089051"/>
            <a:ext cx="5143500" cy="243294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34940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EIGRP-A · Vizinhança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9500" y="2781201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com CORE1 e CORE2, três filiais (BR1, BR2, BR3) e o datacenter DC1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405882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vizinhos que não sobem no IPv4, mas sobem no IPv6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4030563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 nós IOL-XE · tickets A1 a A4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9350" y="2089051"/>
            <a:ext cx="5143500" cy="243294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9700" y="234940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EIGRP-B · Rotas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89700" y="2781201"/>
            <a:ext cx="4876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Núcleo, saída de internet (EDGE e ISP) e duas filiais stub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89700" y="3157041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vizinhos sobem, mas as rotas certas não chegam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9700" y="3781723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 nós IOL-XE · tickets B1 a B4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83314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named mode </a:t>
            </a:r>
            <a:r>
              <a:rPr lang="en-US" sz="1400" b="1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AS 100, pilha dupla. As topologias abrem cada bloco de tickets.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ENARSI v9</a:t>
            </a:r>
            <a:endParaRPr lang="en-US" sz="1200" dirty="0"/>
          </a:p>
        </p:txBody>
      </p:sp>
      <p:pic>
        <p:nvPicPr>
          <p:cNvPr id="1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EIGRP-A · TOPOLOGIA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Matriz, três filiais e o datacenter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23641"/>
            <a:ext cx="10566400" cy="39370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</p:spPr>
      </p:sp>
      <p:pic>
        <p:nvPicPr>
          <p:cNvPr id="5" name="Image 0" descr="Topologia do Lab EIGRP-A: CORE1 ligado a CORE2, BR1 e BR3; CORE2 ligado a BR2 e DC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673" y="1823641"/>
            <a:ext cx="8830654" cy="393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named mode EMPRESA · AS 100 · pilha dupla IPv4 + IPv6</a:t>
            </a:r>
            <a:endParaRPr lang="en-US" sz="1200" dirty="0"/>
          </a:p>
        </p:txBody>
      </p:sp>
      <p:pic>
        <p:nvPicPr>
          <p:cNvPr id="7" name="Image 1" descr="ABRedes">    </p:cNvPr>
          <p:cNvPicPr>
            <a:picLocks noChangeAspect="1"/>
          </p:cNvPicPr>
          <p:nvPr/>
        </p:nvPicPr>
        <p:blipFill>
          <a:blip r:embed="rId2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· TICKET A1 · AUTENTICAÇÃO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Key-string diferente: o vizinho nunca sobe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Filial 1 perdeu o IPv4 depois da troca de senhas. O ping IPv6 continua funcionando.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 chain EIGRP-KEYS, a BR1 tem </a:t>
            </a:r>
            <a:r>
              <a:rPr lang="en-US" sz="1400" b="1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Cisco123</a:t>
            </a: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o CORE1 tem </a:t>
            </a:r>
            <a:r>
              <a:rPr lang="en-US" sz="1400" b="1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CISCO123</a:t>
            </a: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chave diferencia maiúsculas.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named mode a autenticação é por address-family. Por isso o IPv6 continuou de pé.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2836863"/>
          </a:xfrm>
          <a:prstGeom prst="roundRect">
            <a:avLst>
              <a:gd name="adj" fmla="val 3581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CORE1# show ip eigrp neighbors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BR1# show ip eigrp interfaces detail e0/0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BR1# show key chain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na BR1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key chain EIGRP-KEYS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key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key-string CISCO123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Lab EIGRP-A</a:t>
            </a:r>
            <a:endParaRPr lang="en-US" sz="1200" dirty="0"/>
          </a:p>
        </p:txBody>
      </p:sp>
      <p:pic>
        <p:nvPicPr>
          <p:cNvPr id="19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· TICKET A2 · VIZINHANÇA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Passive-interface no uplink da filial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Filial 2 foi “endurecida” pela segurança e ficou isolada no IPv4.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9566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890242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interface Ethernet0/0 da BR2 está passiva no AF IPv4. Interface passiva não envia hellos.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565723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passive-interface é para LANs de usuários, nunca para uplinks.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CORE2# show ip eigrp neighbors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BR2# show ip eigrp interfaces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BR2# show ip protocols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na BR2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af-interface Ethernet0/0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passive-interface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Lab EIGRP-A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· TICKET A3 · VIZINHANÇA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de AS diferente na filial nova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Filial 3 foi inaugurada hoje e não acessa nada. Nenhum log aparece.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BR3 usa AS 1000 no AF IPv4. O domínio usa AS 100, então os hellos são ignorados em silêncio.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named mode o AS fica no address-family, não no nome do processo.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441303"/>
          </a:xfrm>
          <a:prstGeom prst="roundRect">
            <a:avLst>
              <a:gd name="adj" fmla="val 295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CORE1# show ip eigrp neighbors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BR3# show ip eigrp neighbors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BR3# show ip protocols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na BR3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address-family ipv4 unicast as 1000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network 10.0.0.0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484842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eigrp router-id 13.13.13.13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Lab EIGRP-A</a:t>
            </a:r>
            <a:endParaRPr lang="en-US" sz="1200" dirty="0"/>
          </a:p>
        </p:txBody>
      </p:sp>
      <p:pic>
        <p:nvPicPr>
          <p:cNvPr id="21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· TICKET A4 · VIZINHANÇA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K-values diferentes derrubam o datacenter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DC1 caiu depois que alguém “otimizou a métrica para considerar carga”.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DC1 tem metric weights 0 1 1 1 0 0 0. Os vizinhos usam o padrão: só K1 e K3 ligados.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um dos poucos casos com log explícito. Olhe sempre o show logging.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CORE2# show logging | i K-value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%DUAL-5-NBRCHANGE: ... 10.0.15.2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 down: K-value mismatch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DC1# show ip protocols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no DC1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metric weights 0 1 1 1 0 0 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Lab EIGRP-A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EIGRP-B · TOPOLOGIA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8328"/>
            <a:ext cx="10883392" cy="4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Núcleo, internet e duas filiais stub</a:t>
            </a:r>
            <a:endParaRPr lang="en-US" sz="2791" dirty="0"/>
          </a:p>
        </p:txBody>
      </p:sp>
      <p:sp>
        <p:nvSpPr>
          <p:cNvPr id="4" name="Shape 2"/>
          <p:cNvSpPr/>
          <p:nvPr/>
        </p:nvSpPr>
        <p:spPr>
          <a:xfrm>
            <a:off x="812800" y="1820962"/>
            <a:ext cx="5207000" cy="403860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/>
        </p:spPr>
      </p:sp>
      <p:pic>
        <p:nvPicPr>
          <p:cNvPr id="5" name="Image 0" descr="Topologia do Lab EIGRP-B: ISP ligado ao EDGE, EDGE ligado a CORE1 e CORE2, CORE1 ligado a BR1, CORE2 ligado a BR2">    </p:cNvPr>
          <p:cNvPicPr>
            <a:picLocks noChangeAspect="1"/>
          </p:cNvPicPr>
          <p:nvPr/>
        </p:nvPicPr>
        <p:blipFill>
          <a:blip r:embed="rId1"/>
          <a:srcRect l="0" r="0" t="-39" b="-39"/>
          <a:stretch/>
        </p:blipFill>
        <p:spPr>
          <a:xfrm>
            <a:off x="812800" y="1820962"/>
            <a:ext cx="5207000" cy="4038600"/>
          </a:xfrm>
          <a:prstGeom prst="roundRect">
            <a:avLst>
              <a:gd name="adj" fmla="val 251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330950" y="1827312"/>
            <a:ext cx="5041900" cy="1109861"/>
          </a:xfrm>
          <a:prstGeom prst="roundRect">
            <a:avLst>
              <a:gd name="adj" fmla="val 858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5100" y="2011462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15100" y="2290862"/>
            <a:ext cx="481380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EDGE tem default estática para o ISP e a redistribui no EIGRP como rota externa (D*EX, AD 170).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30950" y="3102273"/>
            <a:ext cx="5041900" cy="1109861"/>
          </a:xfrm>
          <a:prstGeom prst="roundRect">
            <a:avLst>
              <a:gd name="adj" fmla="val 858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5100" y="3286423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Filiais stub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15100" y="3565823"/>
            <a:ext cx="481380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BR1 e BR2 são eigrp stub. A BR2 sumariza suas 4 LANs em 10.12.0.0/22.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30950" y="4377234"/>
            <a:ext cx="5041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5100" y="4561384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vizinhos sobem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15100" y="4840784"/>
            <a:ext cx="481380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problemas estão no conteúdo das tabelas.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named mode EMPRESA · AS 100 · pilha dupla IPv4 + IPv6</a:t>
            </a:r>
            <a:endParaRPr lang="en-US" sz="1200" dirty="0"/>
          </a:p>
        </p:txBody>
      </p:sp>
      <p:pic>
        <p:nvPicPr>
          <p:cNvPr id="16" name="Image 1" descr="ABRedes">    </p:cNvPr>
          <p:cNvPicPr>
            <a:picLocks noChangeAspect="1"/>
          </p:cNvPicPr>
          <p:nvPr/>
        </p:nvPicPr>
        <p:blipFill>
          <a:blip r:embed="rId2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 · TICKET B1 · STUB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receive-only: a filial não anuncia nada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BR1 recebe todas as rotas, mas ninguém alcança as LANs dela. O vizinho está UP.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BR1 está como </a:t>
            </a:r>
            <a:r>
              <a:rPr lang="en-US" sz="1400" b="1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stub receive-only</a:t>
            </a: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não anuncia nem as redes conectadas.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padrão de eigrp stub é connected summary. Receive-only é para casos raros.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CORE1# show ip route 10.11.1.0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% Subnet not in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CORE1# show ip eigrp neighbors detail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BR1# show ip protocols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na BR1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eigrp stub connected 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Lab EIGRP-B · ordem: B1, B2, B3, B4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 · TICKET B2 · TABELA DE ROTAS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Prefix-list sem permit final bloqueia tudo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Pediram para bloquear o laboratório 10.100.0.0/16 para a BR2. Agora a BR2 não tem nenhuma rota EIGRP.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erros na FILTRO-BR2 do CORE2: a rede errada (10.1.0.0/16) e a falta do permit final.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553641"/>
          </a:xfrm>
          <a:prstGeom prst="roundRect">
            <a:avLst>
              <a:gd name="adj" fmla="val 13763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toda prefix-list termina com deny implícito.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441303"/>
          </a:xfrm>
          <a:prstGeom prst="roundRect">
            <a:avLst>
              <a:gd name="adj" fmla="val 295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BR2# show ip route eigrp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CORE2# show ip protocols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CORE2# show ip prefix-list FILTRO-BR2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no CORE2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ip prefix-list FILTRO-BR2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ip prefix-list FILTRO-BR2 seq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deny 10.100.0.0/16 le 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ip prefix-list FILTRO-BR2 seq 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484842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permit 0.0.0.0/0 le 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Lab EIGRP-B</a:t>
            </a:r>
            <a:endParaRPr lang="en-US" sz="1200" dirty="0"/>
          </a:p>
        </p:txBody>
      </p:sp>
      <p:pic>
        <p:nvPicPr>
          <p:cNvPr id="21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 · TICKET B3 · SUMARIZAÇÃO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0.0.0.0/0 sequestra a internet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no CORE2 perdeu a internet. A default aponta para a filial BR2, não para o EDGE.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BR2 anuncia summary-address 0.0.0.0/0 em vez de 10.12.0.0/22. Essa default interna (AD 90) ganha da externa do EDGE (AD 170).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553641"/>
          </a:xfrm>
          <a:prstGeom prst="roundRect">
            <a:avLst>
              <a:gd name="adj" fmla="val 13763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confira o Originating router no show ip eigrp topology.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2836863"/>
          </a:xfrm>
          <a:prstGeom prst="roundRect">
            <a:avLst>
              <a:gd name="adj" fmla="val 3581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CORE2# show ip route 0.0.0.0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D* 0.0.0.0/0 [90/...] via 10.0.15.2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CORE2# show ip eigrp topology 0.0.0.0/0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BR2# show ip route | i Null0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na BR2 (af-interface e0/0)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summary-address 0.0.0.0 0.0.0.0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summary-address 10.12.0.0 255.255.252.0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Lab EIGRP-B</a:t>
            </a:r>
            <a:endParaRPr lang="en-US" sz="1200" dirty="0"/>
          </a:p>
        </p:txBody>
      </p:sp>
      <p:pic>
        <p:nvPicPr>
          <p:cNvPr id="19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 · TICKET B4 · ROUTER-ID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Router-ID duplicado esconde a rota externa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CORE1 e a BR1 continuam sem internet. O CORE2 navega. O EDGE é vizinho normal do CORE1.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EDGE usa o RID 1.1.1.1, o mesmo do CORE1. O CORE1 descarta rotas externas que parecem originadas por ele mesmo.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EIGRP, RID duplicado não derruba a vizinhança. Só afeta rotas externas.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CORE1# show ip eigrp topology 0.0.0.0/0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%Entry 0.0.0.0/0 not in topology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CORE2# show ip eigrp topology 0.0.0.0/0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Originating router is 1.1.1.1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no 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eigrp EMPRESA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address-family ipv4 unicast as 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eigrp router-id 3.3.3.3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Lab EIGRP-B · faça depois do B3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· SE SOBRAR TEMPO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só o IPv6 falha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2701"/>
            <a:ext cx="5156200" cy="1892002"/>
          </a:xfrm>
          <a:prstGeom prst="roundRect">
            <a:avLst>
              <a:gd name="adj" fmla="val 5370"/>
            </a:avLst>
          </a:prstGeom>
          <a:solidFill>
            <a:srgbClr val="22315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36701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· Lab A · CORE2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737941"/>
            <a:ext cx="47876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IPv4 do datacenter voltou, mas o IPv6 parou.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3113782"/>
            <a:ext cx="4902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af-interface Ethernet0/2 em shutdown no AF IPv6.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3489623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show ipv6 eigrp interfaces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3000" y="2082701"/>
            <a:ext cx="5156200" cy="1892002"/>
          </a:xfrm>
          <a:prstGeom prst="roundRect">
            <a:avLst>
              <a:gd name="adj" fmla="val 5370"/>
            </a:avLst>
          </a:prstGeom>
          <a:solidFill>
            <a:srgbClr val="22315A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2336701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9C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· Lab B · EDGE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7000" y="2737941"/>
            <a:ext cx="47876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IPv4 navega na internet, o IPv6 não.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7000" y="3113782"/>
            <a:ext cx="47876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o AF IPv6 do EDGE não tem redistribute static.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7000" y="3489623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show ipv6 route ::/0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27950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50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address-family tem interfaces, filtros e redistribuição próprios.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bônus começam corrigidos: aplique o bloco “Quebrar” do roteiro antes</a:t>
            </a:r>
            <a:endParaRPr lang="en-US" sz="1200" dirty="0"/>
          </a:p>
        </p:txBody>
      </p:sp>
      <p:pic>
        <p:nvPicPr>
          <p:cNvPr id="16" name="Image 0" descr="ABRedes">    </p:cNvPr>
          <p:cNvPicPr>
            <a:picLocks noChangeAspect="1"/>
          </p:cNvPicPr>
          <p:nvPr/>
        </p:nvPicPr>
        <p:blipFill>
          <a:blip r:embed="rId1"/>
          <a:srcRect l="0" r="0" t="-599" b="-599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DE COMANDOS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comandos que resolveram os oito tickets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01"/>
          <a:ext cx="10553700" cy="2874169"/>
        </p:xfrm>
        <a:graphic>
          <a:graphicData uri="http://schemas.openxmlformats.org/drawingml/2006/table">
            <a:tbl>
              <a:tblPr/>
              <a:tblGrid>
                <a:gridCol w="4643628"/>
                <a:gridCol w="591007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Responde a pergunta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eigrp neighbors [detail]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é vizinho? É stub? O que anuncia?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eigrp interfaces detail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interface participa? Tem autenticação?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protocols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AS, K-values, router-id, passivas, filtros, stub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eigrp topology &lt;rede&gt;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originou a rota? Interna ou externa?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route &lt;rede&gt;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 caminho venceu e com qual AD?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key chain · show ip prefix-list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chave e o filtro estão certos?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logging | i DUAL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roteador já está contando o motivo?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EIGRP · ENARSI v9</a:t>
            </a:r>
            <a:endParaRPr lang="en-US" sz="1200" dirty="0"/>
          </a:p>
        </p:txBody>
      </p:sp>
      <p:pic>
        <p:nvPicPr>
          <p:cNvPr id="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ubleshooting EIGRP — ENARSI">
  <a:themeElements>
    <a:clrScheme name="Troubleshooting EIGRP — ENARSI">
      <a:dk1>
        <a:srgbClr val="14213D"/>
      </a:dk1>
      <a:lt1>
        <a:srgbClr val="F6F7F4"/>
      </a:lt1>
      <a:dk2>
        <a:srgbClr val="4D576B"/>
      </a:dk2>
      <a:lt2>
        <a:srgbClr val="DFE2E2"/>
      </a:lt2>
      <a:accent1>
        <a:srgbClr val="2F6FB0"/>
      </a:accent1>
      <a:accent2>
        <a:srgbClr val="C2560F"/>
      </a:accent2>
      <a:accent3>
        <a:srgbClr val="F2A65A"/>
      </a:accent3>
      <a:accent4>
        <a:srgbClr val="9CC3E8"/>
      </a:accent4>
      <a:accent5>
        <a:srgbClr val="FBE7D3"/>
      </a:accent5>
      <a:accent6>
        <a:srgbClr val="22315A"/>
      </a:accent6>
      <a:hlink>
        <a:srgbClr val="0563C1"/>
      </a:hlink>
      <a:folHlink>
        <a:srgbClr val="954F72"/>
      </a:folHlink>
    </a:clrScheme>
    <a:fontScheme name="Troubleshooting EIGRP — ENARS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Troubleshooting EIGRP — ENARSI</dc:title>
  <dc:subject/>
  <dc:creator/>
  <cp:lastModifiedBy/>
  <cp:revision>1</cp:revision>
  <dcterms:created xsi:type="dcterms:W3CDTF">2026-10-14T20:00:37Z</dcterms:created>
  <dcterms:modified xsi:type="dcterms:W3CDTF">2026-10-14T20:00:37Z</dcterms:modified>
</cp:coreProperties>
</file>